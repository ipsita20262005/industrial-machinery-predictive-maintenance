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7068BD-7673-4DB2-ACD7-C7E5D4D68427}">
  <a:tblStyle styleId="{BA7068BD-7673-4DB2-ACD7-C7E5D4D6842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865945c92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865945c9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865945c92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865945c9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865945c92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e865945c9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eb626975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eeb62697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5183188" y="987425"/>
            <a:ext cx="6172200" cy="4873625"/>
          </a:xfrm>
          <a:prstGeom prst="rect">
            <a:avLst/>
          </a:prstGeom>
          <a:noFill/>
          <a:ln>
            <a:noFill/>
          </a:ln>
        </p:spPr>
      </p:sp>
      <p:sp>
        <p:nvSpPr>
          <p:cNvPr id="58" name="Google Shape;58;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ipsitachowdhury01@gmail.com" TargetMode="External"/><Relationship Id="rId4" Type="http://schemas.openxmlformats.org/officeDocument/2006/relationships/hyperlink" Target="mailto:helloipsita2026@gmail.com" TargetMode="External"/><Relationship Id="rId5" Type="http://schemas.openxmlformats.org/officeDocument/2006/relationships/image" Target="../media/image3.jp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watsonx.ai"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github.com/Ipsita20262005/Industrial-Machinery-Predictive-Maintenanc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12"/>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13"/>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13"/>
          <p:cNvGraphicFramePr/>
          <p:nvPr/>
        </p:nvGraphicFramePr>
        <p:xfrm>
          <a:off x="1299257" y="2600315"/>
          <a:ext cx="3000000" cy="3000000"/>
        </p:xfrm>
        <a:graphic>
          <a:graphicData uri="http://schemas.openxmlformats.org/drawingml/2006/table">
            <a:tbl>
              <a:tblPr>
                <a:noFill/>
                <a:tableStyleId>{BA7068BD-7673-4DB2-ACD7-C7E5D4D68427}</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a:t>IPSITA CHOWDHURY</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u="sng">
                          <a:solidFill>
                            <a:schemeClr val="hlink"/>
                          </a:solidFill>
                          <a:hlinkClick r:id="rId3"/>
                        </a:rPr>
                        <a:t>ipsitachowdhury01@gmail.com</a:t>
                      </a:r>
                      <a:endParaRPr/>
                    </a:p>
                    <a:p>
                      <a:pPr indent="0" lvl="0" marL="0" marR="0" rtl="0" algn="l">
                        <a:lnSpc>
                          <a:spcPct val="100000"/>
                        </a:lnSpc>
                        <a:spcBef>
                          <a:spcPts val="0"/>
                        </a:spcBef>
                        <a:spcAft>
                          <a:spcPts val="0"/>
                        </a:spcAft>
                        <a:buClr>
                          <a:srgbClr val="000000"/>
                        </a:buClr>
                        <a:buSzPts val="1400"/>
                        <a:buFont typeface="Arial"/>
                        <a:buNone/>
                      </a:pPr>
                      <a:r>
                        <a:rPr lang="en-US" u="sng">
                          <a:solidFill>
                            <a:schemeClr val="hlink"/>
                          </a:solidFill>
                          <a:hlinkClick r:id="rId4"/>
                        </a:rPr>
                        <a:t>helloipsita2026@gmail.com</a:t>
                      </a:r>
                      <a:endParaRPr/>
                    </a:p>
                    <a:p>
                      <a:pPr indent="0" lvl="0" marL="0" marR="0" rtl="0" algn="l">
                        <a:lnSpc>
                          <a:spcPct val="100000"/>
                        </a:lnSpc>
                        <a:spcBef>
                          <a:spcPts val="0"/>
                        </a:spcBef>
                        <a:spcAft>
                          <a:spcPts val="0"/>
                        </a:spcAft>
                        <a:buClr>
                          <a:srgbClr val="000000"/>
                        </a:buClr>
                        <a:buSzPts val="1400"/>
                        <a:buFont typeface="Arial"/>
                        <a:buNone/>
                      </a:pPr>
                      <a:r>
                        <a:t/>
                      </a:r>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7439777959</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7" name="Google Shape;87;p13"/>
          <p:cNvPicPr preferRelativeResize="0"/>
          <p:nvPr/>
        </p:nvPicPr>
        <p:blipFill rotWithShape="1">
          <a:blip r:embed="rId5">
            <a:alphaModFix/>
          </a:blip>
          <a:srcRect b="0" l="13310" r="-13310" t="0"/>
          <a:stretch/>
        </p:blipFill>
        <p:spPr>
          <a:xfrm>
            <a:off x="4125524" y="3822792"/>
            <a:ext cx="762500" cy="801811"/>
          </a:xfrm>
          <a:prstGeom prst="rect">
            <a:avLst/>
          </a:prstGeom>
          <a:noFill/>
          <a:ln>
            <a:noFill/>
          </a:ln>
        </p:spPr>
      </p:pic>
      <p:sp>
        <p:nvSpPr>
          <p:cNvPr id="88" name="Google Shape;88;p13"/>
          <p:cNvSpPr txBox="1"/>
          <p:nvPr/>
        </p:nvSpPr>
        <p:spPr>
          <a:xfrm>
            <a:off x="1206164" y="1460724"/>
            <a:ext cx="102804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lang="en-US" sz="2400">
                <a:highlight>
                  <a:schemeClr val="lt1"/>
                </a:highlight>
              </a:rPr>
              <a:t>Industrial Engineering / Industry 4.0</a:t>
            </a:r>
            <a:endParaRPr b="1" sz="2400">
              <a:highlight>
                <a:schemeClr val="lt1"/>
              </a:highlight>
            </a:endParaRPr>
          </a:p>
          <a:p>
            <a:pPr indent="0" lvl="0" marL="0" marR="0" rtl="0" algn="l">
              <a:lnSpc>
                <a:spcPct val="100000"/>
              </a:lnSpc>
              <a:spcBef>
                <a:spcPts val="0"/>
              </a:spcBef>
              <a:spcAft>
                <a:spcPts val="0"/>
              </a:spcAft>
              <a:buNone/>
            </a:pPr>
            <a:r>
              <a:t/>
            </a:r>
            <a:endParaRPr b="1" sz="2400">
              <a:highlight>
                <a:schemeClr val="lt1"/>
              </a:highlight>
            </a:endParaRPr>
          </a:p>
        </p:txBody>
      </p:sp>
      <p:sp>
        <p:nvSpPr>
          <p:cNvPr id="89" name="Google Shape;89;p13"/>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a:t>
            </a:r>
            <a:r>
              <a:rPr b="1" lang="en-US" sz="2400"/>
              <a:t> Industrial Machinery Predictive Maintenance </a:t>
            </a:r>
            <a:endParaRPr b="1" i="0" sz="2400" u="none" cap="none" strike="noStrike">
              <a:solidFill>
                <a:srgbClr val="000000"/>
              </a:solidFill>
              <a:highlight>
                <a:srgbClr val="FFFF00"/>
              </a:highlight>
              <a:latin typeface="Arial"/>
              <a:ea typeface="Arial"/>
              <a:cs typeface="Arial"/>
              <a:sym typeface="Arial"/>
            </a:endParaRPr>
          </a:p>
        </p:txBody>
      </p:sp>
      <p:pic>
        <p:nvPicPr>
          <p:cNvPr id="90" name="Google Shape;90;p13"/>
          <p:cNvPicPr preferRelativeResize="0"/>
          <p:nvPr/>
        </p:nvPicPr>
        <p:blipFill>
          <a:blip r:embed="rId6">
            <a:alphaModFix/>
          </a:blip>
          <a:stretch>
            <a:fillRect/>
          </a:stretch>
        </p:blipFill>
        <p:spPr>
          <a:xfrm>
            <a:off x="3868850" y="3645025"/>
            <a:ext cx="1019175" cy="1043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nvSpPr>
        <p:spPr>
          <a:xfrm>
            <a:off x="576072" y="1234440"/>
            <a:ext cx="10607100" cy="488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a:t>
            </a:r>
            <a:r>
              <a:rPr b="1" lang="en-US"/>
              <a:t>Industrial Machinery Predictive Maintenance </a:t>
            </a:r>
            <a:endParaRPr b="1"/>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US" sz="1200">
                <a:solidFill>
                  <a:schemeClr val="dk1"/>
                </a:solidFill>
              </a:rPr>
              <a:t>Develop a predictive maintenance model for a fleet of industrial machines to anticipate failures before they occur. This project will involve analyzing sensor data from machinery to identify patterns that precede a failure. The goal is to create a classification model that can predict the type of failure (e.g., tool wear, heat dissipation, power failure) based on real-time operational data. This will enable proactive maintenance, reducing downtime and operational costs.</a:t>
            </a:r>
            <a:endParaRPr sz="1200">
              <a:solidFill>
                <a:schemeClr val="dk1"/>
              </a:solidFill>
            </a:endParaRPr>
          </a:p>
          <a:p>
            <a:pPr indent="0" lvl="0" marL="0" rtl="0" algn="l">
              <a:lnSpc>
                <a:spcPct val="115000"/>
              </a:lnSpc>
              <a:spcBef>
                <a:spcPts val="1200"/>
              </a:spcBef>
              <a:spcAft>
                <a:spcPts val="0"/>
              </a:spcAft>
              <a:buNone/>
            </a:pPr>
            <a:r>
              <a:rPr b="1" i="0" lang="en-US" sz="1400" u="none" cap="none" strike="noStrike">
                <a:solidFill>
                  <a:srgbClr val="000000"/>
                </a:solidFill>
                <a:latin typeface="Arial"/>
                <a:ea typeface="Arial"/>
                <a:cs typeface="Arial"/>
                <a:sym typeface="Arial"/>
              </a:rPr>
              <a:t>The Objective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US" sz="1200"/>
              <a:t>The objective of this project is to develop a Machine Learning-based predictive maintenance system that can analyze industrial machinery sensor data and predict potential machine failures before they occur. By identifying patterns associated with different failure types such as tool wear failure, heat dissipation failure, power failure, overstrain failure, and random failures, the system enables industries to perform maintenance proactively. This helps reduce unexpected downtime, improve machine reliability, increase productivity, and lower maintenance costs</a:t>
            </a:r>
            <a:r>
              <a:rPr lang="en-US"/>
              <a:t>.</a:t>
            </a:r>
            <a:endParaRPr/>
          </a:p>
          <a:p>
            <a:pPr indent="-304800" lvl="0" marL="457200" rtl="0" algn="l">
              <a:lnSpc>
                <a:spcPct val="115000"/>
              </a:lnSpc>
              <a:spcBef>
                <a:spcPts val="1200"/>
              </a:spcBef>
              <a:spcAft>
                <a:spcPts val="0"/>
              </a:spcAft>
              <a:buSzPts val="1200"/>
              <a:buChar char="●"/>
            </a:pPr>
            <a:r>
              <a:rPr lang="en-US" sz="1200"/>
              <a:t>Develop a predictive maintenance model using Machine Learning.</a:t>
            </a:r>
            <a:endParaRPr sz="1200"/>
          </a:p>
          <a:p>
            <a:pPr indent="-304800" lvl="0" marL="457200" rtl="0" algn="l">
              <a:lnSpc>
                <a:spcPct val="115000"/>
              </a:lnSpc>
              <a:spcBef>
                <a:spcPts val="0"/>
              </a:spcBef>
              <a:spcAft>
                <a:spcPts val="0"/>
              </a:spcAft>
              <a:buSzPts val="1200"/>
              <a:buChar char="●"/>
            </a:pPr>
            <a:r>
              <a:rPr lang="en-US" sz="1200"/>
              <a:t>Analyze industrial machine sensor data in real time.</a:t>
            </a:r>
            <a:endParaRPr sz="1200"/>
          </a:p>
          <a:p>
            <a:pPr indent="-304800" lvl="0" marL="457200" rtl="0" algn="l">
              <a:lnSpc>
                <a:spcPct val="115000"/>
              </a:lnSpc>
              <a:spcBef>
                <a:spcPts val="0"/>
              </a:spcBef>
              <a:spcAft>
                <a:spcPts val="0"/>
              </a:spcAft>
              <a:buSzPts val="1200"/>
              <a:buChar char="●"/>
            </a:pPr>
            <a:r>
              <a:rPr lang="en-US" sz="1200"/>
              <a:t>Detect patterns that indicate upcoming machine failures.</a:t>
            </a:r>
            <a:endParaRPr sz="1200"/>
          </a:p>
          <a:p>
            <a:pPr indent="-304800" lvl="0" marL="457200" rtl="0" algn="l">
              <a:lnSpc>
                <a:spcPct val="115000"/>
              </a:lnSpc>
              <a:spcBef>
                <a:spcPts val="0"/>
              </a:spcBef>
              <a:spcAft>
                <a:spcPts val="0"/>
              </a:spcAft>
              <a:buSzPts val="1200"/>
              <a:buChar char="●"/>
            </a:pPr>
            <a:r>
              <a:rPr lang="en-US" sz="1200"/>
              <a:t>Classify different types of failures accurately.</a:t>
            </a:r>
            <a:endParaRPr sz="1200"/>
          </a:p>
          <a:p>
            <a:pPr indent="-304800" lvl="0" marL="457200" rtl="0" algn="l">
              <a:lnSpc>
                <a:spcPct val="115000"/>
              </a:lnSpc>
              <a:spcBef>
                <a:spcPts val="0"/>
              </a:spcBef>
              <a:spcAft>
                <a:spcPts val="0"/>
              </a:spcAft>
              <a:buSzPts val="1200"/>
              <a:buChar char="●"/>
            </a:pPr>
            <a:r>
              <a:rPr lang="en-US" sz="1200"/>
              <a:t>Reduce unplanned machine downtime.</a:t>
            </a:r>
            <a:endParaRPr sz="1200"/>
          </a:p>
          <a:p>
            <a:pPr indent="-304800" lvl="0" marL="457200" rtl="0" algn="l">
              <a:lnSpc>
                <a:spcPct val="115000"/>
              </a:lnSpc>
              <a:spcBef>
                <a:spcPts val="0"/>
              </a:spcBef>
              <a:spcAft>
                <a:spcPts val="0"/>
              </a:spcAft>
              <a:buSzPts val="1200"/>
              <a:buChar char="●"/>
            </a:pPr>
            <a:r>
              <a:rPr lang="en-US" sz="1200"/>
              <a:t>Improve operational efficiency and productivity </a:t>
            </a:r>
            <a:endParaRPr sz="1200"/>
          </a:p>
          <a:p>
            <a:pPr indent="-304800" lvl="0" marL="457200" rtl="0" algn="l">
              <a:lnSpc>
                <a:spcPct val="115000"/>
              </a:lnSpc>
              <a:spcBef>
                <a:spcPts val="0"/>
              </a:spcBef>
              <a:spcAft>
                <a:spcPts val="0"/>
              </a:spcAft>
              <a:buSzPts val="1200"/>
              <a:buChar char="●"/>
            </a:pPr>
            <a:r>
              <a:rPr lang="en-US" sz="1200"/>
              <a:t>Minimize maintenance and repair costs </a:t>
            </a:r>
            <a:endParaRPr sz="1200"/>
          </a:p>
          <a:p>
            <a:pPr indent="-317500" lvl="0" marL="457200" rtl="0" algn="l">
              <a:lnSpc>
                <a:spcPct val="115000"/>
              </a:lnSpc>
              <a:spcBef>
                <a:spcPts val="0"/>
              </a:spcBef>
              <a:spcAft>
                <a:spcPts val="0"/>
              </a:spcAft>
              <a:buSzPts val="1400"/>
              <a:buChar char="●"/>
            </a:pPr>
            <a:r>
              <a:rPr lang="en-US" sz="1200"/>
              <a:t>Enable proactive and data-driven maintenance decisions</a:t>
            </a:r>
            <a:r>
              <a:rPr lang="en-US"/>
              <a:t> </a:t>
            </a:r>
            <a:endParaRPr b="0" i="0" sz="1400" u="none" cap="none" strike="noStrike">
              <a:solidFill>
                <a:srgbClr val="000000"/>
              </a:solidFill>
              <a:latin typeface="Arial"/>
              <a:ea typeface="Arial"/>
              <a:cs typeface="Arial"/>
              <a:sym typeface="Arial"/>
            </a:endParaRPr>
          </a:p>
        </p:txBody>
      </p:sp>
      <p:sp>
        <p:nvSpPr>
          <p:cNvPr id="96" name="Google Shape;96;p1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nvSpPr>
        <p:spPr>
          <a:xfrm>
            <a:off x="667512" y="1165753"/>
            <a:ext cx="10607100" cy="5259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SzPts val="1100"/>
              <a:buNone/>
            </a:pPr>
            <a:r>
              <a:t/>
            </a:r>
            <a:endParaRPr b="1"/>
          </a:p>
          <a:p>
            <a:pPr indent="0" lvl="0" marL="0" rtl="0" algn="l">
              <a:lnSpc>
                <a:spcPct val="115000"/>
              </a:lnSpc>
              <a:spcBef>
                <a:spcPts val="1400"/>
              </a:spcBef>
              <a:spcAft>
                <a:spcPts val="0"/>
              </a:spcAft>
              <a:buClr>
                <a:schemeClr val="dk1"/>
              </a:buClr>
              <a:buSzPts val="1100"/>
              <a:buFont typeface="Arial"/>
              <a:buNone/>
            </a:pPr>
            <a:r>
              <a:rPr b="1" lang="en-US" sz="1200">
                <a:solidFill>
                  <a:schemeClr val="dk1"/>
                </a:solidFill>
              </a:rPr>
              <a:t>Platform: </a:t>
            </a:r>
            <a:endParaRPr b="1" sz="1200">
              <a:solidFill>
                <a:schemeClr val="dk1"/>
              </a:solidFill>
            </a:endParaRPr>
          </a:p>
          <a:p>
            <a:pPr indent="0" lvl="0" marL="0" rtl="0" algn="l">
              <a:lnSpc>
                <a:spcPct val="115000"/>
              </a:lnSpc>
              <a:spcBef>
                <a:spcPts val="1200"/>
              </a:spcBef>
              <a:spcAft>
                <a:spcPts val="0"/>
              </a:spcAft>
              <a:buNone/>
            </a:pPr>
            <a:r>
              <a:rPr lang="en-US" sz="1200">
                <a:solidFill>
                  <a:schemeClr val="dk1"/>
                </a:solidFill>
              </a:rPr>
              <a:t>IBM Cloud Lite , IBM </a:t>
            </a:r>
            <a:r>
              <a:rPr lang="en-US" sz="1200" u="sng">
                <a:solidFill>
                  <a:schemeClr val="hlink"/>
                </a:solidFill>
                <a:hlinkClick r:id="rId3"/>
              </a:rPr>
              <a:t>Watsonx.ai</a:t>
            </a:r>
            <a:r>
              <a:rPr lang="en-US" sz="1200">
                <a:solidFill>
                  <a:schemeClr val="dk1"/>
                </a:solidFill>
              </a:rPr>
              <a:t> , IBM Watson Machine Learning</a:t>
            </a:r>
            <a:endParaRPr sz="1200">
              <a:solidFill>
                <a:schemeClr val="dk1"/>
              </a:solidFill>
            </a:endParaRPr>
          </a:p>
          <a:p>
            <a:pPr indent="0" lvl="0" marL="0" rtl="0" algn="l">
              <a:lnSpc>
                <a:spcPct val="115000"/>
              </a:lnSpc>
              <a:spcBef>
                <a:spcPts val="1200"/>
              </a:spcBef>
              <a:spcAft>
                <a:spcPts val="0"/>
              </a:spcAft>
              <a:buNone/>
            </a:pPr>
            <a:r>
              <a:rPr b="1" lang="en-US" sz="1200">
                <a:solidFill>
                  <a:schemeClr val="dk1"/>
                </a:solidFill>
              </a:rPr>
              <a:t>Machine Learning:</a:t>
            </a:r>
            <a:endParaRPr b="1" sz="1200">
              <a:solidFill>
                <a:schemeClr val="dk1"/>
              </a:solidFill>
            </a:endParaRPr>
          </a:p>
          <a:p>
            <a:pPr indent="0" lvl="0" marL="0" rtl="0" algn="l">
              <a:lnSpc>
                <a:spcPct val="115000"/>
              </a:lnSpc>
              <a:spcBef>
                <a:spcPts val="1200"/>
              </a:spcBef>
              <a:spcAft>
                <a:spcPts val="0"/>
              </a:spcAft>
              <a:buNone/>
            </a:pPr>
            <a:r>
              <a:rPr lang="en-US" sz="1200">
                <a:solidFill>
                  <a:schemeClr val="dk1"/>
                </a:solidFill>
              </a:rPr>
              <a:t>AutoAI, Random Forest Classifier (Best Performing Model) , Classification Algorithms</a:t>
            </a:r>
            <a:endParaRPr sz="1200">
              <a:solidFill>
                <a:schemeClr val="dk1"/>
              </a:solidFill>
            </a:endParaRPr>
          </a:p>
          <a:p>
            <a:pPr indent="0" lvl="0" marL="0" rtl="0" algn="l">
              <a:lnSpc>
                <a:spcPct val="115000"/>
              </a:lnSpc>
              <a:spcBef>
                <a:spcPts val="1400"/>
              </a:spcBef>
              <a:spcAft>
                <a:spcPts val="0"/>
              </a:spcAft>
              <a:buSzPts val="1100"/>
              <a:buNone/>
            </a:pPr>
            <a:r>
              <a:rPr b="1" lang="en-US" sz="1200">
                <a:solidFill>
                  <a:schemeClr val="dk1"/>
                </a:solidFill>
              </a:rPr>
              <a:t>Dataset:</a:t>
            </a:r>
            <a:endParaRPr b="1" sz="1200">
              <a:solidFill>
                <a:schemeClr val="dk1"/>
              </a:solidFill>
            </a:endParaRPr>
          </a:p>
          <a:p>
            <a:pPr indent="0" lvl="0" marL="0" rtl="0" algn="l">
              <a:lnSpc>
                <a:spcPct val="115000"/>
              </a:lnSpc>
              <a:spcBef>
                <a:spcPts val="1400"/>
              </a:spcBef>
              <a:spcAft>
                <a:spcPts val="0"/>
              </a:spcAft>
              <a:buSzPts val="1100"/>
              <a:buNone/>
            </a:pPr>
            <a:r>
              <a:rPr lang="en-US" sz="1200">
                <a:solidFill>
                  <a:schemeClr val="dk1"/>
                </a:solidFill>
              </a:rPr>
              <a:t>Kaggle Predictive Maintenance Dataset</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200">
                <a:solidFill>
                  <a:schemeClr val="dk1"/>
                </a:solidFill>
              </a:rPr>
              <a:t>Programming &amp; Data Processing :</a:t>
            </a:r>
            <a:endParaRPr b="1" sz="1200">
              <a:solidFill>
                <a:schemeClr val="dk1"/>
              </a:solidFill>
            </a:endParaRPr>
          </a:p>
          <a:p>
            <a:pPr indent="0" lvl="0" marL="0" rtl="0" algn="l">
              <a:lnSpc>
                <a:spcPct val="115000"/>
              </a:lnSpc>
              <a:spcBef>
                <a:spcPts val="1200"/>
              </a:spcBef>
              <a:spcAft>
                <a:spcPts val="0"/>
              </a:spcAft>
              <a:buNone/>
            </a:pPr>
            <a:r>
              <a:rPr lang="en-US" sz="1200">
                <a:solidFill>
                  <a:schemeClr val="dk1"/>
                </a:solidFill>
              </a:rPr>
              <a:t>Python, Pandas, NumPy, Scikit-learn</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200">
                <a:solidFill>
                  <a:schemeClr val="dk1"/>
                </a:solidFill>
              </a:rPr>
              <a:t>Deployment: </a:t>
            </a:r>
            <a:endParaRPr b="1" sz="1200">
              <a:solidFill>
                <a:schemeClr val="dk1"/>
              </a:solidFill>
            </a:endParaRPr>
          </a:p>
          <a:p>
            <a:pPr indent="0" lvl="0" marL="0" rtl="0" algn="l">
              <a:lnSpc>
                <a:spcPct val="115000"/>
              </a:lnSpc>
              <a:spcBef>
                <a:spcPts val="1200"/>
              </a:spcBef>
              <a:spcAft>
                <a:spcPts val="0"/>
              </a:spcAft>
              <a:buNone/>
            </a:pPr>
            <a:r>
              <a:rPr lang="en-US" sz="1200">
                <a:solidFill>
                  <a:schemeClr val="dk1"/>
                </a:solidFill>
              </a:rPr>
              <a:t>IBM Watson Machine Learning Deployment Space, REST API Endpoint, Online Prediction Service</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200">
                <a:solidFill>
                  <a:schemeClr val="dk1"/>
                </a:solidFill>
              </a:rPr>
              <a:t>Data Storage: </a:t>
            </a:r>
            <a:endParaRPr b="1" sz="1200">
              <a:solidFill>
                <a:schemeClr val="dk1"/>
              </a:solidFill>
            </a:endParaRPr>
          </a:p>
          <a:p>
            <a:pPr indent="0" lvl="0" marL="0" rtl="0" algn="l">
              <a:lnSpc>
                <a:spcPct val="115000"/>
              </a:lnSpc>
              <a:spcBef>
                <a:spcPts val="1200"/>
              </a:spcBef>
              <a:spcAft>
                <a:spcPts val="0"/>
              </a:spcAft>
              <a:buNone/>
            </a:pPr>
            <a:r>
              <a:rPr lang="en-US" sz="1200">
                <a:solidFill>
                  <a:schemeClr val="dk1"/>
                </a:solidFill>
              </a:rPr>
              <a:t>IBM Cloud Object Storage</a:t>
            </a:r>
            <a:endParaRPr sz="1200">
              <a:solidFill>
                <a:schemeClr val="dk1"/>
              </a:solidFill>
            </a:endParaRPr>
          </a:p>
          <a:p>
            <a:pPr indent="0" lvl="0" marL="0" marR="0" rtl="0" algn="l">
              <a:lnSpc>
                <a:spcPct val="100000"/>
              </a:lnSpc>
              <a:spcBef>
                <a:spcPts val="1200"/>
              </a:spcBef>
              <a:spcAft>
                <a:spcPts val="0"/>
              </a:spcAft>
              <a:buNone/>
            </a:pPr>
            <a:r>
              <a:t/>
            </a:r>
            <a:endParaRPr/>
          </a:p>
        </p:txBody>
      </p:sp>
      <p:sp>
        <p:nvSpPr>
          <p:cNvPr id="102" name="Google Shape;102;p1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nvSpPr>
        <p:spPr>
          <a:xfrm>
            <a:off x="576072" y="1234440"/>
            <a:ext cx="10607100" cy="430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Proposed Solution: </a:t>
            </a:r>
            <a:r>
              <a:rPr b="1" lang="en-US">
                <a:solidFill>
                  <a:schemeClr val="dk1"/>
                </a:solidFill>
              </a:rPr>
              <a:t>Industrial Machinery Predictive Maintenance</a:t>
            </a:r>
            <a:endParaRPr/>
          </a:p>
          <a:p>
            <a:pPr indent="0" lvl="0" marL="0" rtl="0" algn="l">
              <a:lnSpc>
                <a:spcPct val="115000"/>
              </a:lnSpc>
              <a:spcBef>
                <a:spcPts val="1200"/>
              </a:spcBef>
              <a:spcAft>
                <a:spcPts val="0"/>
              </a:spcAft>
              <a:buSzPts val="1100"/>
              <a:buNone/>
            </a:pPr>
            <a:r>
              <a:rPr lang="en-US" sz="1200"/>
              <a:t>The proposed solution utilizes Machine Learning and IBM Watsonx.ai to create a predictive maintenance system for industrial machinery. Historical sensor data containing operational parameters such as temperature, rotational speed, torque, and tool wear are analyzed to identify patterns associated with machine failures. The data is preprocessed and used to train a classification model through IBM Watsonx.ai AutoAI. The best-performing model is deployed on IBM Cloud, allowing real-time prediction of failure types. This enables maintenance teams to take preventive actions before breakdowns occur, improving machine availability and reducing operational costs .</a:t>
            </a:r>
            <a:endParaRPr sz="1200"/>
          </a:p>
          <a:p>
            <a:pPr indent="0" lvl="0" marL="0" rtl="0" algn="l">
              <a:lnSpc>
                <a:spcPct val="115000"/>
              </a:lnSpc>
              <a:spcBef>
                <a:spcPts val="1200"/>
              </a:spcBef>
              <a:spcAft>
                <a:spcPts val="0"/>
              </a:spcAft>
              <a:buSzPts val="1100"/>
              <a:buNone/>
            </a:pPr>
            <a:r>
              <a:rPr b="1" lang="en-US" sz="1300">
                <a:solidFill>
                  <a:schemeClr val="dk1"/>
                </a:solidFill>
              </a:rPr>
              <a:t>Phase 1: Data Collection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Obtain machinery sensor data from Kaggle dataset.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Store data in IBM Cloud Object Storage.</a:t>
            </a:r>
            <a:endParaRPr sz="1100">
              <a:solidFill>
                <a:schemeClr val="dk1"/>
              </a:solidFill>
            </a:endParaRPr>
          </a:p>
          <a:p>
            <a:pPr indent="0" lvl="0" marL="0" rtl="0" algn="l">
              <a:lnSpc>
                <a:spcPct val="115000"/>
              </a:lnSpc>
              <a:spcBef>
                <a:spcPts val="1200"/>
              </a:spcBef>
              <a:spcAft>
                <a:spcPts val="0"/>
              </a:spcAft>
              <a:buNone/>
            </a:pPr>
            <a:r>
              <a:rPr b="1" lang="en-US" sz="1300">
                <a:solidFill>
                  <a:schemeClr val="dk1"/>
                </a:solidFill>
              </a:rPr>
              <a:t>Phase 2: Data Preprocessing</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Data cleaning.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Handling missing values.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Feature selection.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Train-test data split.</a:t>
            </a:r>
            <a:endParaRPr sz="1100">
              <a:solidFill>
                <a:schemeClr val="dk1"/>
              </a:solidFill>
            </a:endParaRPr>
          </a:p>
          <a:p>
            <a:pPr indent="0" lvl="0" marL="457200" rtl="0" algn="l">
              <a:lnSpc>
                <a:spcPct val="115000"/>
              </a:lnSpc>
              <a:spcBef>
                <a:spcPts val="1200"/>
              </a:spcBef>
              <a:spcAft>
                <a:spcPts val="1200"/>
              </a:spcAft>
              <a:buNone/>
            </a:pPr>
            <a:r>
              <a:rPr lang="en-US" sz="1100">
                <a:solidFill>
                  <a:schemeClr val="dk1"/>
                </a:solidFill>
              </a:rPr>
              <a:t>.</a:t>
            </a:r>
            <a:endParaRPr sz="1200"/>
          </a:p>
        </p:txBody>
      </p:sp>
      <p:sp>
        <p:nvSpPr>
          <p:cNvPr id="108" name="Google Shape;108;p16"/>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Font typeface="Arial"/>
              <a:buNone/>
            </a:pPr>
            <a:r>
              <a:rPr b="1" lang="en-US" sz="2400">
                <a:latin typeface="Arial"/>
                <a:ea typeface="Arial"/>
                <a:cs typeface="Arial"/>
                <a:sym typeface="Arial"/>
              </a:rPr>
              <a:t>Proposed Solution -</a:t>
            </a:r>
            <a:endParaRPr b="1" sz="2400">
              <a:latin typeface="Arial"/>
              <a:ea typeface="Arial"/>
              <a:cs typeface="Arial"/>
              <a:sym typeface="Arial"/>
            </a:endParaRPr>
          </a:p>
          <a:p>
            <a:pPr indent="0" lvl="0" marL="0" rtl="0" algn="l">
              <a:spcBef>
                <a:spcPts val="0"/>
              </a:spcBef>
              <a:spcAft>
                <a:spcPts val="0"/>
              </a:spcAft>
              <a:buNone/>
            </a:pPr>
            <a:r>
              <a:t/>
            </a:r>
            <a:endParaRPr/>
          </a:p>
        </p:txBody>
      </p:sp>
      <p:sp>
        <p:nvSpPr>
          <p:cNvPr id="114" name="Google Shape;114;p1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Phase 3: Model Development</a:t>
            </a:r>
            <a:endParaRPr b="1" sz="13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US" sz="1100">
                <a:latin typeface="Arial"/>
                <a:ea typeface="Arial"/>
                <a:cs typeface="Arial"/>
                <a:sym typeface="Arial"/>
              </a:rPr>
              <a:t>Use IBM Watsonx.ai AutoAI.</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Train multiple classification algorithms.</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Evaluate model performance.</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Select best-performing model.</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Phase 4: Deployment</a:t>
            </a:r>
            <a:endParaRPr b="1" sz="13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US" sz="1100">
                <a:latin typeface="Arial"/>
                <a:ea typeface="Arial"/>
                <a:cs typeface="Arial"/>
                <a:sym typeface="Arial"/>
              </a:rPr>
              <a:t>Deploy model using IBM Watson Machine Learning.</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Create REST API endpoint.</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Enable online prediction service.</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Phase 5: Prediction</a:t>
            </a:r>
            <a:endParaRPr b="1" sz="13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US" sz="1100">
                <a:latin typeface="Arial"/>
                <a:ea typeface="Arial"/>
                <a:cs typeface="Arial"/>
                <a:sym typeface="Arial"/>
              </a:rPr>
              <a:t>Input machine operational parameters.</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Predict failure type.</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Generate confidence score.</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Provide maintenance recommendations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lang="en-US" sz="2400"/>
              <a:t>Machine Learning </a:t>
            </a:r>
            <a:r>
              <a:rPr b="1" i="0" lang="en-US" sz="2400" u="none" cap="none" strike="noStrike">
                <a:solidFill>
                  <a:srgbClr val="000000"/>
                </a:solidFill>
                <a:latin typeface="Arial"/>
                <a:ea typeface="Arial"/>
                <a:cs typeface="Arial"/>
                <a:sym typeface="Arial"/>
              </a:rPr>
              <a:t>component</a:t>
            </a:r>
            <a:r>
              <a:rPr b="1" lang="en-US" sz="2400"/>
              <a:t>s </a:t>
            </a:r>
            <a:r>
              <a:rPr b="1" i="0" lang="en-US" sz="2400" u="none" cap="none" strike="noStrike">
                <a:solidFill>
                  <a:srgbClr val="000000"/>
                </a:solidFill>
                <a:latin typeface="Arial"/>
                <a:ea typeface="Arial"/>
                <a:cs typeface="Arial"/>
                <a:sym typeface="Arial"/>
              </a:rPr>
              <a:t>Used -</a:t>
            </a:r>
            <a:endParaRPr b="1" i="0" sz="2400" u="none" cap="none" strike="noStrike">
              <a:solidFill>
                <a:srgbClr val="000000"/>
              </a:solidFill>
              <a:latin typeface="Arial"/>
              <a:ea typeface="Arial"/>
              <a:cs typeface="Arial"/>
              <a:sym typeface="Arial"/>
            </a:endParaRPr>
          </a:p>
        </p:txBody>
      </p:sp>
      <p:sp>
        <p:nvSpPr>
          <p:cNvPr id="120" name="Google Shape;120;p18"/>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1" name="Google Shape;121;p18"/>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2" name="Google Shape;122;p18"/>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3" name="Google Shape;123;p18"/>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4" name="Google Shape;124;p18"/>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5" name="Google Shape;125;p18"/>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6" name="Google Shape;126;p18"/>
          <p:cNvSpPr txBox="1"/>
          <p:nvPr/>
        </p:nvSpPr>
        <p:spPr>
          <a:xfrm>
            <a:off x="474825" y="863175"/>
            <a:ext cx="8823900" cy="663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rtl="0" algn="l">
              <a:lnSpc>
                <a:spcPct val="115000"/>
              </a:lnSpc>
              <a:spcBef>
                <a:spcPts val="1400"/>
              </a:spcBef>
              <a:spcAft>
                <a:spcPts val="0"/>
              </a:spcAft>
              <a:buSzPts val="1100"/>
              <a:buNone/>
            </a:pPr>
            <a:r>
              <a:rPr b="1" lang="en-US" sz="1300">
                <a:solidFill>
                  <a:schemeClr val="dk1"/>
                </a:solidFill>
              </a:rPr>
              <a:t>1. Data Collection</a:t>
            </a:r>
            <a:endParaRPr b="1" sz="1300">
              <a:solidFill>
                <a:schemeClr val="dk1"/>
              </a:solidFill>
            </a:endParaRPr>
          </a:p>
          <a:p>
            <a:pPr indent="0" lvl="0" marL="0" rtl="0" algn="l">
              <a:lnSpc>
                <a:spcPct val="115000"/>
              </a:lnSpc>
              <a:spcBef>
                <a:spcPts val="1400"/>
              </a:spcBef>
              <a:spcAft>
                <a:spcPts val="0"/>
              </a:spcAft>
              <a:buSzPts val="1100"/>
              <a:buNone/>
            </a:pPr>
            <a:r>
              <a:rPr lang="en-US" sz="1100">
                <a:solidFill>
                  <a:schemeClr val="dk1"/>
                </a:solidFill>
              </a:rPr>
              <a:t>Source: Kaggle Predictive Maintenance Dataset, Machinery operational and sensor data collected for analysis.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2. Data Preprocessing</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Data Cleaning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Missing Value Handling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Feature Selection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Data Transformation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Train-Test Split</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3. Exploratory Data Analysis (EDA)</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Understanding data patterns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Failure distribution analysis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Feature correlation analysis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4. Feature Engineering</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Selection of important features such as: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Air Temperature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Process Temperature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Rotational Speed (RPM)</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Torque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Tool Wear</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51D3A"/>
              </a:buClr>
              <a:buSzPts val="3500"/>
              <a:buFont typeface="Times New Roman"/>
              <a:buNone/>
            </a:pPr>
            <a:r>
              <a:rPr b="1" lang="en-US" sz="2400">
                <a:latin typeface="Arial"/>
                <a:ea typeface="Arial"/>
                <a:cs typeface="Arial"/>
                <a:sym typeface="Arial"/>
              </a:rPr>
              <a:t>Machine Learning components Used-</a:t>
            </a:r>
            <a:endParaRPr/>
          </a:p>
        </p:txBody>
      </p:sp>
      <p:sp>
        <p:nvSpPr>
          <p:cNvPr id="132" name="Google Shape;132;p1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5. Model Training</a:t>
            </a:r>
            <a:endParaRPr b="1" sz="13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US" sz="1100">
                <a:latin typeface="Arial"/>
                <a:ea typeface="Arial"/>
                <a:cs typeface="Arial"/>
                <a:sym typeface="Arial"/>
              </a:rPr>
              <a:t>AutoAI in IBM Watsonx.ai automatically trains multiple algorithms.</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6. Model Evaluation</a:t>
            </a:r>
            <a:endParaRPr b="1" sz="13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US" sz="1100">
                <a:latin typeface="Arial"/>
                <a:ea typeface="Arial"/>
                <a:cs typeface="Arial"/>
                <a:sym typeface="Arial"/>
              </a:rPr>
              <a:t>Accuracy</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Precision</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Recall</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F1-Score</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Cross Validation</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7. Model Deployment</a:t>
            </a:r>
            <a:endParaRPr b="1" sz="13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US" sz="1100">
                <a:latin typeface="Arial"/>
                <a:ea typeface="Arial"/>
                <a:cs typeface="Arial"/>
                <a:sym typeface="Arial"/>
              </a:rPr>
              <a:t>IBM Watson Machine Learning</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REST API Endpoint</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Online Prediction Service</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8. Real-Time Prediction</a:t>
            </a:r>
            <a:endParaRPr b="1" sz="13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US" sz="1100">
                <a:latin typeface="Arial"/>
                <a:ea typeface="Arial"/>
                <a:cs typeface="Arial"/>
                <a:sym typeface="Arial"/>
              </a:rPr>
              <a:t>Predicts machine failure type</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Generates confidence score</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Supports proactive maintenance</a:t>
            </a:r>
            <a:endParaRPr sz="11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15000"/>
              </a:lnSpc>
              <a:spcBef>
                <a:spcPts val="2400"/>
              </a:spcBef>
              <a:spcAft>
                <a:spcPts val="0"/>
              </a:spcAft>
              <a:buClr>
                <a:schemeClr val="dk1"/>
              </a:buClr>
              <a:buSzPts val="1100"/>
              <a:buFont typeface="Arial"/>
              <a:buNone/>
            </a:pPr>
            <a:r>
              <a:rPr b="1" lang="en-US" sz="3000">
                <a:latin typeface="Arial"/>
                <a:ea typeface="Arial"/>
                <a:cs typeface="Arial"/>
                <a:sym typeface="Arial"/>
              </a:rPr>
              <a:t>Algorithms Used :</a:t>
            </a:r>
            <a:endParaRPr b="1" sz="3000">
              <a:latin typeface="Arial"/>
              <a:ea typeface="Arial"/>
              <a:cs typeface="Arial"/>
              <a:sym typeface="Arial"/>
            </a:endParaRPr>
          </a:p>
          <a:p>
            <a:pPr indent="0" lvl="0" marL="0" rtl="0" algn="l">
              <a:spcBef>
                <a:spcPts val="600"/>
              </a:spcBef>
              <a:spcAft>
                <a:spcPts val="0"/>
              </a:spcAft>
              <a:buNone/>
            </a:pPr>
            <a:r>
              <a:t/>
            </a:r>
            <a:endParaRPr/>
          </a:p>
        </p:txBody>
      </p:sp>
      <p:sp>
        <p:nvSpPr>
          <p:cNvPr id="138" name="Google Shape;138;p2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77500" lnSpcReduction="20000"/>
          </a:bodyPr>
          <a:lstStyle/>
          <a:p>
            <a:pPr indent="0" lvl="0" marL="0" rtl="0" algn="l">
              <a:lnSpc>
                <a:spcPct val="115000"/>
              </a:lnSpc>
              <a:spcBef>
                <a:spcPts val="1400"/>
              </a:spcBef>
              <a:spcAft>
                <a:spcPts val="0"/>
              </a:spcAft>
              <a:buClr>
                <a:schemeClr val="dk1"/>
              </a:buClr>
              <a:buSzPct val="39286"/>
              <a:buFont typeface="Arial"/>
              <a:buNone/>
            </a:pPr>
            <a:r>
              <a:rPr b="1" lang="en-US">
                <a:latin typeface="Arial"/>
                <a:ea typeface="Arial"/>
                <a:cs typeface="Arial"/>
                <a:sym typeface="Arial"/>
              </a:rPr>
              <a:t>Final Selected Algorithm:</a:t>
            </a:r>
            <a:endParaRPr b="1">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rPr b="1" lang="en-US" sz="1100">
                <a:latin typeface="Arial"/>
                <a:ea typeface="Arial"/>
                <a:cs typeface="Arial"/>
                <a:sym typeface="Arial"/>
              </a:rPr>
              <a:t>Random Forest Classifier</a:t>
            </a:r>
            <a:endParaRPr b="1" sz="1100">
              <a:latin typeface="Arial"/>
              <a:ea typeface="Arial"/>
              <a:cs typeface="Arial"/>
              <a:sym typeface="Arial"/>
            </a:endParaRPr>
          </a:p>
          <a:p>
            <a:pPr indent="0" lvl="0" marL="0" rtl="0" algn="l">
              <a:lnSpc>
                <a:spcPct val="115000"/>
              </a:lnSpc>
              <a:spcBef>
                <a:spcPts val="1400"/>
              </a:spcBef>
              <a:spcAft>
                <a:spcPts val="0"/>
              </a:spcAft>
              <a:buClr>
                <a:schemeClr val="dk1"/>
              </a:buClr>
              <a:buSzPct val="84615"/>
              <a:buFont typeface="Arial"/>
              <a:buNone/>
            </a:pPr>
            <a:r>
              <a:rPr b="1" lang="en-US" sz="1300">
                <a:latin typeface="Arial"/>
                <a:ea typeface="Arial"/>
                <a:cs typeface="Arial"/>
                <a:sym typeface="Arial"/>
              </a:rPr>
              <a:t>Why Random Forest?</a:t>
            </a:r>
            <a:endParaRPr b="1" sz="1300">
              <a:latin typeface="Arial"/>
              <a:ea typeface="Arial"/>
              <a:cs typeface="Arial"/>
              <a:sym typeface="Arial"/>
            </a:endParaRPr>
          </a:p>
          <a:p>
            <a:pPr indent="-282734" lvl="0" marL="457200" rtl="0" algn="l">
              <a:lnSpc>
                <a:spcPct val="115000"/>
              </a:lnSpc>
              <a:spcBef>
                <a:spcPts val="1200"/>
              </a:spcBef>
              <a:spcAft>
                <a:spcPts val="0"/>
              </a:spcAft>
              <a:buSzPct val="100000"/>
              <a:buChar char="●"/>
            </a:pPr>
            <a:r>
              <a:rPr lang="en-US" sz="1100">
                <a:latin typeface="Arial"/>
                <a:ea typeface="Arial"/>
                <a:cs typeface="Arial"/>
                <a:sym typeface="Arial"/>
              </a:rPr>
              <a:t>High prediction accuracy</a:t>
            </a:r>
            <a:endParaRPr sz="1100">
              <a:latin typeface="Arial"/>
              <a:ea typeface="Arial"/>
              <a:cs typeface="Arial"/>
              <a:sym typeface="Arial"/>
            </a:endParaRPr>
          </a:p>
          <a:p>
            <a:pPr indent="-282734" lvl="0" marL="457200" rtl="0" algn="l">
              <a:lnSpc>
                <a:spcPct val="115000"/>
              </a:lnSpc>
              <a:spcBef>
                <a:spcPts val="0"/>
              </a:spcBef>
              <a:spcAft>
                <a:spcPts val="0"/>
              </a:spcAft>
              <a:buSzPct val="100000"/>
              <a:buChar char="●"/>
            </a:pPr>
            <a:r>
              <a:rPr lang="en-US" sz="1100">
                <a:latin typeface="Arial"/>
                <a:ea typeface="Arial"/>
                <a:cs typeface="Arial"/>
                <a:sym typeface="Arial"/>
              </a:rPr>
              <a:t>Handles large datasets efficiently</a:t>
            </a:r>
            <a:endParaRPr sz="1100">
              <a:latin typeface="Arial"/>
              <a:ea typeface="Arial"/>
              <a:cs typeface="Arial"/>
              <a:sym typeface="Arial"/>
            </a:endParaRPr>
          </a:p>
          <a:p>
            <a:pPr indent="-282734" lvl="0" marL="457200" rtl="0" algn="l">
              <a:lnSpc>
                <a:spcPct val="115000"/>
              </a:lnSpc>
              <a:spcBef>
                <a:spcPts val="0"/>
              </a:spcBef>
              <a:spcAft>
                <a:spcPts val="0"/>
              </a:spcAft>
              <a:buSzPct val="100000"/>
              <a:buChar char="●"/>
            </a:pPr>
            <a:r>
              <a:rPr lang="en-US" sz="1100">
                <a:latin typeface="Arial"/>
                <a:ea typeface="Arial"/>
                <a:cs typeface="Arial"/>
                <a:sym typeface="Arial"/>
              </a:rPr>
              <a:t>Reduces overfitting</a:t>
            </a:r>
            <a:endParaRPr sz="1100">
              <a:latin typeface="Arial"/>
              <a:ea typeface="Arial"/>
              <a:cs typeface="Arial"/>
              <a:sym typeface="Arial"/>
            </a:endParaRPr>
          </a:p>
          <a:p>
            <a:pPr indent="-282734" lvl="0" marL="457200" rtl="0" algn="l">
              <a:lnSpc>
                <a:spcPct val="115000"/>
              </a:lnSpc>
              <a:spcBef>
                <a:spcPts val="0"/>
              </a:spcBef>
              <a:spcAft>
                <a:spcPts val="0"/>
              </a:spcAft>
              <a:buSzPct val="100000"/>
              <a:buChar char="●"/>
            </a:pPr>
            <a:r>
              <a:rPr lang="en-US" sz="1100">
                <a:latin typeface="Arial"/>
                <a:ea typeface="Arial"/>
                <a:cs typeface="Arial"/>
                <a:sym typeface="Arial"/>
              </a:rPr>
              <a:t>Works well for multiclass classification</a:t>
            </a:r>
            <a:endParaRPr sz="1100">
              <a:latin typeface="Arial"/>
              <a:ea typeface="Arial"/>
              <a:cs typeface="Arial"/>
              <a:sym typeface="Arial"/>
            </a:endParaRPr>
          </a:p>
          <a:p>
            <a:pPr indent="-282734" lvl="0" marL="457200" rtl="0" algn="l">
              <a:lnSpc>
                <a:spcPct val="115000"/>
              </a:lnSpc>
              <a:spcBef>
                <a:spcPts val="0"/>
              </a:spcBef>
              <a:spcAft>
                <a:spcPts val="0"/>
              </a:spcAft>
              <a:buSzPct val="100000"/>
              <a:buChar char="●"/>
            </a:pPr>
            <a:r>
              <a:rPr lang="en-US" sz="1100">
                <a:latin typeface="Arial"/>
                <a:ea typeface="Arial"/>
                <a:cs typeface="Arial"/>
                <a:sym typeface="Arial"/>
              </a:rPr>
              <a:t>Provides robust performance on industrial sensor data</a:t>
            </a:r>
            <a:endParaRPr sz="1100">
              <a:latin typeface="Arial"/>
              <a:ea typeface="Arial"/>
              <a:cs typeface="Arial"/>
              <a:sym typeface="Arial"/>
            </a:endParaRPr>
          </a:p>
          <a:p>
            <a:pPr indent="0" lvl="0" marL="0" rtl="0" algn="l">
              <a:lnSpc>
                <a:spcPct val="115000"/>
              </a:lnSpc>
              <a:spcBef>
                <a:spcPts val="2400"/>
              </a:spcBef>
              <a:spcAft>
                <a:spcPts val="0"/>
              </a:spcAft>
              <a:buNone/>
            </a:pPr>
            <a:r>
              <a:rPr b="1" lang="en-US" sz="2300">
                <a:latin typeface="Arial"/>
                <a:ea typeface="Arial"/>
                <a:cs typeface="Arial"/>
                <a:sym typeface="Arial"/>
              </a:rPr>
              <a:t>Other Algorithms Tested by AutoAI:</a:t>
            </a:r>
            <a:endParaRPr b="1" sz="23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IBM AutoAI generally evaluates multiple algorithms such as:</a:t>
            </a:r>
            <a:endParaRPr sz="1100">
              <a:latin typeface="Arial"/>
              <a:ea typeface="Arial"/>
              <a:cs typeface="Arial"/>
              <a:sym typeface="Arial"/>
            </a:endParaRPr>
          </a:p>
          <a:p>
            <a:pPr indent="-282734" lvl="0" marL="457200" rtl="0" algn="l">
              <a:lnSpc>
                <a:spcPct val="115000"/>
              </a:lnSpc>
              <a:spcBef>
                <a:spcPts val="1200"/>
              </a:spcBef>
              <a:spcAft>
                <a:spcPts val="0"/>
              </a:spcAft>
              <a:buSzPct val="100000"/>
              <a:buChar char="●"/>
            </a:pPr>
            <a:r>
              <a:rPr lang="en-US" sz="1100">
                <a:latin typeface="Arial"/>
                <a:ea typeface="Arial"/>
                <a:cs typeface="Arial"/>
                <a:sym typeface="Arial"/>
              </a:rPr>
              <a:t>Random Forest Classifier</a:t>
            </a:r>
            <a:endParaRPr sz="1100">
              <a:latin typeface="Arial"/>
              <a:ea typeface="Arial"/>
              <a:cs typeface="Arial"/>
              <a:sym typeface="Arial"/>
            </a:endParaRPr>
          </a:p>
          <a:p>
            <a:pPr indent="-282734" lvl="0" marL="457200" rtl="0" algn="l">
              <a:lnSpc>
                <a:spcPct val="115000"/>
              </a:lnSpc>
              <a:spcBef>
                <a:spcPts val="0"/>
              </a:spcBef>
              <a:spcAft>
                <a:spcPts val="0"/>
              </a:spcAft>
              <a:buSzPct val="100000"/>
              <a:buChar char="●"/>
            </a:pPr>
            <a:r>
              <a:rPr lang="en-US" sz="1100">
                <a:latin typeface="Arial"/>
                <a:ea typeface="Arial"/>
                <a:cs typeface="Arial"/>
                <a:sym typeface="Arial"/>
              </a:rPr>
              <a:t>Decision Tree Classifier</a:t>
            </a:r>
            <a:endParaRPr sz="1100">
              <a:latin typeface="Arial"/>
              <a:ea typeface="Arial"/>
              <a:cs typeface="Arial"/>
              <a:sym typeface="Arial"/>
            </a:endParaRPr>
          </a:p>
          <a:p>
            <a:pPr indent="-282734" lvl="0" marL="457200" rtl="0" algn="l">
              <a:lnSpc>
                <a:spcPct val="115000"/>
              </a:lnSpc>
              <a:spcBef>
                <a:spcPts val="0"/>
              </a:spcBef>
              <a:spcAft>
                <a:spcPts val="0"/>
              </a:spcAft>
              <a:buSzPct val="100000"/>
              <a:buChar char="●"/>
            </a:pPr>
            <a:r>
              <a:rPr lang="en-US" sz="1100">
                <a:latin typeface="Arial"/>
                <a:ea typeface="Arial"/>
                <a:cs typeface="Arial"/>
                <a:sym typeface="Arial"/>
              </a:rPr>
              <a:t>XGBoost Classifier</a:t>
            </a:r>
            <a:endParaRPr sz="1100">
              <a:latin typeface="Arial"/>
              <a:ea typeface="Arial"/>
              <a:cs typeface="Arial"/>
              <a:sym typeface="Arial"/>
            </a:endParaRPr>
          </a:p>
          <a:p>
            <a:pPr indent="-282734" lvl="0" marL="457200" rtl="0" algn="l">
              <a:lnSpc>
                <a:spcPct val="115000"/>
              </a:lnSpc>
              <a:spcBef>
                <a:spcPts val="0"/>
              </a:spcBef>
              <a:spcAft>
                <a:spcPts val="0"/>
              </a:spcAft>
              <a:buSzPct val="100000"/>
              <a:buChar char="●"/>
            </a:pPr>
            <a:r>
              <a:rPr lang="en-US" sz="1100">
                <a:latin typeface="Arial"/>
                <a:ea typeface="Arial"/>
                <a:cs typeface="Arial"/>
                <a:sym typeface="Arial"/>
              </a:rPr>
              <a:t>Logistic Regression</a:t>
            </a:r>
            <a:endParaRPr sz="1100">
              <a:latin typeface="Arial"/>
              <a:ea typeface="Arial"/>
              <a:cs typeface="Arial"/>
              <a:sym typeface="Arial"/>
            </a:endParaRPr>
          </a:p>
          <a:p>
            <a:pPr indent="-282734" lvl="0" marL="457200" rtl="0" algn="l">
              <a:lnSpc>
                <a:spcPct val="115000"/>
              </a:lnSpc>
              <a:spcBef>
                <a:spcPts val="0"/>
              </a:spcBef>
              <a:spcAft>
                <a:spcPts val="0"/>
              </a:spcAft>
              <a:buSzPct val="100000"/>
              <a:buChar char="●"/>
            </a:pPr>
            <a:r>
              <a:rPr lang="en-US" sz="1100">
                <a:latin typeface="Arial"/>
                <a:ea typeface="Arial"/>
                <a:cs typeface="Arial"/>
                <a:sym typeface="Arial"/>
              </a:rPr>
              <a:t>Extra Trees Classifier</a:t>
            </a:r>
            <a:endParaRPr sz="1100">
              <a:latin typeface="Arial"/>
              <a:ea typeface="Arial"/>
              <a:cs typeface="Arial"/>
              <a:sym typeface="Arial"/>
            </a:endParaRPr>
          </a:p>
          <a:p>
            <a:pPr indent="-282734" lvl="0" marL="457200" rtl="0" algn="l">
              <a:lnSpc>
                <a:spcPct val="115000"/>
              </a:lnSpc>
              <a:spcBef>
                <a:spcPts val="0"/>
              </a:spcBef>
              <a:spcAft>
                <a:spcPts val="0"/>
              </a:spcAft>
              <a:buSzPct val="100000"/>
              <a:buChar char="●"/>
            </a:pPr>
            <a:r>
              <a:rPr lang="en-US" sz="1100">
                <a:latin typeface="Arial"/>
                <a:ea typeface="Arial"/>
                <a:cs typeface="Arial"/>
                <a:sym typeface="Arial"/>
              </a:rPr>
              <a:t>Gradient Boosting Classifier</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The best-performing model is automatically selected and deployed.</a:t>
            </a:r>
            <a:endParaRPr sz="11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1" title="Screenshot 2026-06-04 155657.png"/>
          <p:cNvPicPr preferRelativeResize="0"/>
          <p:nvPr/>
        </p:nvPicPr>
        <p:blipFill rotWithShape="1">
          <a:blip r:embed="rId3">
            <a:alphaModFix/>
          </a:blip>
          <a:srcRect b="-165138" l="-16842" r="-133784" t="-7862"/>
          <a:stretch/>
        </p:blipFill>
        <p:spPr>
          <a:xfrm>
            <a:off x="63354" y="810188"/>
            <a:ext cx="11036600" cy="5536576"/>
          </a:xfrm>
          <a:prstGeom prst="rect">
            <a:avLst/>
          </a:prstGeom>
          <a:noFill/>
          <a:ln>
            <a:noFill/>
          </a:ln>
        </p:spPr>
      </p:pic>
      <p:sp>
        <p:nvSpPr>
          <p:cNvPr id="144" name="Google Shape;144;p21"/>
          <p:cNvSpPr/>
          <p:nvPr/>
        </p:nvSpPr>
        <p:spPr>
          <a:xfrm>
            <a:off x="450590" y="361701"/>
            <a:ext cx="5908800" cy="44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lang="en-US" sz="2400"/>
              <a:t>Screenshots :</a:t>
            </a:r>
            <a:r>
              <a:rPr b="1" i="0" lang="en-US" sz="2400" u="none" cap="none" strike="noStrike">
                <a:solidFill>
                  <a:srgbClr val="000000"/>
                </a:solidFill>
                <a:latin typeface="Arial"/>
                <a:ea typeface="Arial"/>
                <a:cs typeface="Arial"/>
                <a:sym typeface="Arial"/>
              </a:rPr>
              <a:t> -</a:t>
            </a:r>
            <a:endParaRPr b="1" i="0" sz="2400" u="none" cap="none" strike="noStrike">
              <a:solidFill>
                <a:srgbClr val="000000"/>
              </a:solidFill>
              <a:latin typeface="Arial"/>
              <a:ea typeface="Arial"/>
              <a:cs typeface="Arial"/>
              <a:sym typeface="Arial"/>
            </a:endParaRPr>
          </a:p>
        </p:txBody>
      </p:sp>
      <p:pic>
        <p:nvPicPr>
          <p:cNvPr id="145" name="Google Shape;145;p21"/>
          <p:cNvPicPr preferRelativeResize="0"/>
          <p:nvPr/>
        </p:nvPicPr>
        <p:blipFill>
          <a:blip r:embed="rId4">
            <a:alphaModFix/>
          </a:blip>
          <a:stretch>
            <a:fillRect/>
          </a:stretch>
        </p:blipFill>
        <p:spPr>
          <a:xfrm>
            <a:off x="6574900" y="810200"/>
            <a:ext cx="4272676" cy="2613125"/>
          </a:xfrm>
          <a:prstGeom prst="rect">
            <a:avLst/>
          </a:prstGeom>
          <a:noFill/>
          <a:ln>
            <a:noFill/>
          </a:ln>
        </p:spPr>
      </p:pic>
      <p:pic>
        <p:nvPicPr>
          <p:cNvPr id="146" name="Google Shape;146;p21"/>
          <p:cNvPicPr preferRelativeResize="0"/>
          <p:nvPr/>
        </p:nvPicPr>
        <p:blipFill>
          <a:blip r:embed="rId5">
            <a:alphaModFix/>
          </a:blip>
          <a:stretch>
            <a:fillRect/>
          </a:stretch>
        </p:blipFill>
        <p:spPr>
          <a:xfrm>
            <a:off x="152400" y="3724250"/>
            <a:ext cx="5534552" cy="2487100"/>
          </a:xfrm>
          <a:prstGeom prst="rect">
            <a:avLst/>
          </a:prstGeom>
          <a:noFill/>
          <a:ln>
            <a:noFill/>
          </a:ln>
        </p:spPr>
      </p:pic>
      <p:pic>
        <p:nvPicPr>
          <p:cNvPr id="147" name="Google Shape;147;p21"/>
          <p:cNvPicPr preferRelativeResize="0"/>
          <p:nvPr/>
        </p:nvPicPr>
        <p:blipFill rotWithShape="1">
          <a:blip r:embed="rId6">
            <a:alphaModFix/>
          </a:blip>
          <a:srcRect b="0" l="0" r="0" t="-3498"/>
          <a:stretch/>
        </p:blipFill>
        <p:spPr>
          <a:xfrm>
            <a:off x="6742225" y="3620350"/>
            <a:ext cx="4584223" cy="3072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2" title="Architecture Workflow.png"/>
          <p:cNvPicPr preferRelativeResize="0"/>
          <p:nvPr/>
        </p:nvPicPr>
        <p:blipFill rotWithShape="1">
          <a:blip r:embed="rId3">
            <a:alphaModFix/>
          </a:blip>
          <a:srcRect b="0" l="-1122" r="0" t="0"/>
          <a:stretch/>
        </p:blipFill>
        <p:spPr>
          <a:xfrm>
            <a:off x="418600" y="1071450"/>
            <a:ext cx="10709650" cy="5612825"/>
          </a:xfrm>
          <a:prstGeom prst="rect">
            <a:avLst/>
          </a:prstGeom>
          <a:noFill/>
          <a:ln>
            <a:noFill/>
          </a:ln>
        </p:spPr>
      </p:pic>
      <p:sp>
        <p:nvSpPr>
          <p:cNvPr id="153" name="Google Shape;153;p22"/>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a:t>
            </a:r>
            <a:r>
              <a:rPr b="1" lang="en-US" sz="2400">
                <a:solidFill>
                  <a:schemeClr val="dk1"/>
                </a:solidFill>
                <a:latin typeface="Calibri"/>
                <a:ea typeface="Calibri"/>
                <a:cs typeface="Calibri"/>
                <a:sym typeface="Calibri"/>
              </a:rPr>
              <a:t>Workflow: -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t>Project Blueprint</a:t>
            </a:r>
            <a:endParaRPr b="1"/>
          </a:p>
        </p:txBody>
      </p:sp>
      <p:sp>
        <p:nvSpPr>
          <p:cNvPr id="159" name="Google Shape;159;p23"/>
          <p:cNvSpPr txBox="1"/>
          <p:nvPr>
            <p:ph idx="1" type="body"/>
          </p:nvPr>
        </p:nvSpPr>
        <p:spPr>
          <a:xfrm>
            <a:off x="2119750" y="1825625"/>
            <a:ext cx="83205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60" name="Google Shape;160;p23"/>
          <p:cNvPicPr preferRelativeResize="0"/>
          <p:nvPr/>
        </p:nvPicPr>
        <p:blipFill>
          <a:blip r:embed="rId3">
            <a:alphaModFix/>
          </a:blip>
          <a:stretch>
            <a:fillRect/>
          </a:stretch>
        </p:blipFill>
        <p:spPr>
          <a:xfrm>
            <a:off x="1206300" y="1383200"/>
            <a:ext cx="10147500" cy="5582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nvSpPr>
        <p:spPr>
          <a:xfrm>
            <a:off x="475488" y="283464"/>
            <a:ext cx="93177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3200"/>
              <a:t>Resource Consumption and Compute Usage:- </a:t>
            </a:r>
            <a:endParaRPr b="1" i="0" sz="3200" u="none" cap="none" strike="noStrike">
              <a:solidFill>
                <a:srgbClr val="000000"/>
              </a:solidFill>
              <a:latin typeface="Arial"/>
              <a:ea typeface="Arial"/>
              <a:cs typeface="Arial"/>
              <a:sym typeface="Arial"/>
            </a:endParaRPr>
          </a:p>
        </p:txBody>
      </p:sp>
      <p:sp>
        <p:nvSpPr>
          <p:cNvPr id="166" name="Google Shape;166;p24"/>
          <p:cNvSpPr txBox="1"/>
          <p:nvPr/>
        </p:nvSpPr>
        <p:spPr>
          <a:xfrm>
            <a:off x="621800" y="1167678"/>
            <a:ext cx="10143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id="167" name="Google Shape;167;p24"/>
          <p:cNvPicPr preferRelativeResize="0"/>
          <p:nvPr/>
        </p:nvPicPr>
        <p:blipFill>
          <a:blip r:embed="rId3">
            <a:alphaModFix/>
          </a:blip>
          <a:stretch>
            <a:fillRect/>
          </a:stretch>
        </p:blipFill>
        <p:spPr>
          <a:xfrm>
            <a:off x="152400" y="1627875"/>
            <a:ext cx="5985349" cy="2742250"/>
          </a:xfrm>
          <a:prstGeom prst="rect">
            <a:avLst/>
          </a:prstGeom>
          <a:noFill/>
          <a:ln>
            <a:noFill/>
          </a:ln>
        </p:spPr>
      </p:pic>
      <p:pic>
        <p:nvPicPr>
          <p:cNvPr id="168" name="Google Shape;168;p24"/>
          <p:cNvPicPr preferRelativeResize="0"/>
          <p:nvPr/>
        </p:nvPicPr>
        <p:blipFill>
          <a:blip r:embed="rId4">
            <a:alphaModFix/>
          </a:blip>
          <a:stretch>
            <a:fillRect/>
          </a:stretch>
        </p:blipFill>
        <p:spPr>
          <a:xfrm>
            <a:off x="6290149" y="1627878"/>
            <a:ext cx="5749450" cy="268087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400"/>
              <a:t>Conclusion: - </a:t>
            </a:r>
            <a:endParaRPr b="1" i="0" sz="2400" u="none" cap="none" strike="noStrike">
              <a:solidFill>
                <a:srgbClr val="000000"/>
              </a:solidFill>
              <a:latin typeface="Arial"/>
              <a:ea typeface="Arial"/>
              <a:cs typeface="Arial"/>
              <a:sym typeface="Arial"/>
            </a:endParaRPr>
          </a:p>
        </p:txBody>
      </p:sp>
      <p:sp>
        <p:nvSpPr>
          <p:cNvPr id="174" name="Google Shape;174;p25"/>
          <p:cNvSpPr txBox="1"/>
          <p:nvPr/>
        </p:nvSpPr>
        <p:spPr>
          <a:xfrm>
            <a:off x="777240" y="1207008"/>
            <a:ext cx="10515600" cy="5597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SzPts val="1100"/>
              <a:buNone/>
            </a:pPr>
            <a:r>
              <a:rPr lang="en-US" sz="1100">
                <a:solidFill>
                  <a:schemeClr val="dk1"/>
                </a:solidFill>
              </a:rPr>
              <a:t>The </a:t>
            </a:r>
            <a:r>
              <a:rPr b="1" lang="en-US" sz="1100">
                <a:solidFill>
                  <a:schemeClr val="dk1"/>
                </a:solidFill>
              </a:rPr>
              <a:t>Industrial Machinery Predictive Maintenance</a:t>
            </a:r>
            <a:r>
              <a:rPr lang="en-US" sz="1100">
                <a:solidFill>
                  <a:schemeClr val="dk1"/>
                </a:solidFill>
              </a:rPr>
              <a:t> project successfully demonstrates how </a:t>
            </a:r>
            <a:r>
              <a:rPr b="1" lang="en-US" sz="1100">
                <a:solidFill>
                  <a:schemeClr val="dk1"/>
                </a:solidFill>
              </a:rPr>
              <a:t>Machine Learning, Artificial Intelligence, and Cloud Computing</a:t>
            </a:r>
            <a:r>
              <a:rPr lang="en-US" sz="1100">
                <a:solidFill>
                  <a:schemeClr val="dk1"/>
                </a:solidFill>
              </a:rPr>
              <a:t> can be integrated to improve the reliability and efficiency of industrial operations. Traditional maintenance approaches often rely on fixed schedules or reactive repairs after a machine failure has already occurred, which can lead to unexpected downtime, production losses, increased maintenance costs, and reduced equipment lifespan. This project addresses these challenges by implementing a predictive maintenance solution capable of forecasting potential failures before they happen.</a:t>
            </a:r>
            <a:endParaRPr sz="1100">
              <a:solidFill>
                <a:schemeClr val="dk1"/>
              </a:solidFill>
            </a:endParaRPr>
          </a:p>
          <a:p>
            <a:pPr indent="0" lvl="0" marL="0" rtl="0" algn="l">
              <a:lnSpc>
                <a:spcPct val="115000"/>
              </a:lnSpc>
              <a:spcBef>
                <a:spcPts val="1200"/>
              </a:spcBef>
              <a:spcAft>
                <a:spcPts val="0"/>
              </a:spcAft>
              <a:buSzPts val="1100"/>
              <a:buNone/>
            </a:pPr>
            <a:r>
              <a:rPr lang="en-US" sz="1100">
                <a:solidFill>
                  <a:schemeClr val="dk1"/>
                </a:solidFill>
              </a:rPr>
              <a:t>Using the </a:t>
            </a:r>
            <a:r>
              <a:rPr b="1" lang="en-US" sz="1100">
                <a:solidFill>
                  <a:schemeClr val="dk1"/>
                </a:solidFill>
              </a:rPr>
              <a:t>Kaggle Predictive Maintenance Dataset</a:t>
            </a:r>
            <a:r>
              <a:rPr lang="en-US" sz="1100">
                <a:solidFill>
                  <a:schemeClr val="dk1"/>
                </a:solidFill>
              </a:rPr>
              <a:t>, machinery sensor parameters such as air temperature, process temperature, rotational speed, torque, and tool wear were analyzed to identify patterns associated with different types of failures. Through the use of </a:t>
            </a:r>
            <a:r>
              <a:rPr b="1" lang="en-US" sz="1100">
                <a:solidFill>
                  <a:schemeClr val="dk1"/>
                </a:solidFill>
              </a:rPr>
              <a:t>IBM Watsonx.ai AutoAI</a:t>
            </a:r>
            <a:r>
              <a:rPr lang="en-US" sz="1100">
                <a:solidFill>
                  <a:schemeClr val="dk1"/>
                </a:solidFill>
              </a:rPr>
              <a:t>, multiple machine learning models were automatically trained, evaluated, and compared. The best-performing model, </a:t>
            </a:r>
            <a:r>
              <a:rPr b="1" lang="en-US" sz="1100">
                <a:solidFill>
                  <a:schemeClr val="dk1"/>
                </a:solidFill>
              </a:rPr>
              <a:t>Random Forest Classifier</a:t>
            </a:r>
            <a:r>
              <a:rPr lang="en-US" sz="1100">
                <a:solidFill>
                  <a:schemeClr val="dk1"/>
                </a:solidFill>
              </a:rPr>
              <a:t>, was selected and deployed using </a:t>
            </a:r>
            <a:r>
              <a:rPr b="1" lang="en-US" sz="1100">
                <a:solidFill>
                  <a:schemeClr val="dk1"/>
                </a:solidFill>
              </a:rPr>
              <a:t>IBM Watson Machine Learning</a:t>
            </a:r>
            <a:r>
              <a:rPr lang="en-US" sz="1100">
                <a:solidFill>
                  <a:schemeClr val="dk1"/>
                </a:solidFill>
              </a:rPr>
              <a:t> services on IBM Cloud.</a:t>
            </a:r>
            <a:endParaRPr sz="1100">
              <a:solidFill>
                <a:schemeClr val="dk1"/>
              </a:solidFill>
            </a:endParaRPr>
          </a:p>
          <a:p>
            <a:pPr indent="0" lvl="0" marL="0" rtl="0" algn="l">
              <a:lnSpc>
                <a:spcPct val="115000"/>
              </a:lnSpc>
              <a:spcBef>
                <a:spcPts val="1200"/>
              </a:spcBef>
              <a:spcAft>
                <a:spcPts val="0"/>
              </a:spcAft>
              <a:buSzPts val="1100"/>
              <a:buNone/>
            </a:pPr>
            <a:r>
              <a:rPr lang="en-US" sz="1100">
                <a:solidFill>
                  <a:schemeClr val="dk1"/>
                </a:solidFill>
              </a:rPr>
              <a:t>The developed model is capable of performing </a:t>
            </a:r>
            <a:r>
              <a:rPr b="1" lang="en-US" sz="1100">
                <a:solidFill>
                  <a:schemeClr val="dk1"/>
                </a:solidFill>
              </a:rPr>
              <a:t>multiclass classification</a:t>
            </a:r>
            <a:r>
              <a:rPr lang="en-US" sz="1100">
                <a:solidFill>
                  <a:schemeClr val="dk1"/>
                </a:solidFill>
              </a:rPr>
              <a:t>, allowing it to predict specific failure categories such as Tool Wear Failure, Heat Dissipation Failure, Power Failure, Overstrain Failure, Random Failure, and No Failure. This provides more actionable insights than a simple failure/no-failure prediction system, enabling maintenance teams to take targeted preventive measures based on the predicted fault type.</a:t>
            </a:r>
            <a:endParaRPr sz="1100">
              <a:solidFill>
                <a:schemeClr val="dk1"/>
              </a:solidFill>
            </a:endParaRPr>
          </a:p>
          <a:p>
            <a:pPr indent="0" lvl="0" marL="0" rtl="0" algn="l">
              <a:lnSpc>
                <a:spcPct val="115000"/>
              </a:lnSpc>
              <a:spcBef>
                <a:spcPts val="1200"/>
              </a:spcBef>
              <a:spcAft>
                <a:spcPts val="0"/>
              </a:spcAft>
              <a:buSzPts val="1100"/>
              <a:buNone/>
            </a:pPr>
            <a:r>
              <a:rPr lang="en-US" sz="1100">
                <a:solidFill>
                  <a:schemeClr val="dk1"/>
                </a:solidFill>
              </a:rPr>
              <a:t>The deployment of the model as an online prediction service demonstrates the practical applicability of the solution in real-world industrial environments. By enabling real-time predictions, organizations can monitor machine health continuously, schedule maintenance activities proactively, reduce operational interruptions, and optimize resource utilization. This ultimately leads to improved productivity, increased equipment availability, enhanced safety, and significant cost savings.</a:t>
            </a:r>
            <a:endParaRPr sz="1100">
              <a:solidFill>
                <a:schemeClr val="dk1"/>
              </a:solidFill>
            </a:endParaRPr>
          </a:p>
          <a:p>
            <a:pPr indent="0" lvl="0" marL="0" rtl="0" algn="l">
              <a:lnSpc>
                <a:spcPct val="115000"/>
              </a:lnSpc>
              <a:spcBef>
                <a:spcPts val="1200"/>
              </a:spcBef>
              <a:spcAft>
                <a:spcPts val="0"/>
              </a:spcAft>
              <a:buSzPts val="1100"/>
              <a:buNone/>
            </a:pPr>
            <a:r>
              <a:rPr lang="en-US" sz="1100">
                <a:solidFill>
                  <a:schemeClr val="dk1"/>
                </a:solidFill>
              </a:rPr>
              <a:t>Furthermore, the project highlights the importance of </a:t>
            </a:r>
            <a:r>
              <a:rPr b="1" lang="en-US" sz="1100">
                <a:solidFill>
                  <a:schemeClr val="dk1"/>
                </a:solidFill>
              </a:rPr>
              <a:t>Industry 4.0 technologies</a:t>
            </a:r>
            <a:r>
              <a:rPr lang="en-US" sz="1100">
                <a:solidFill>
                  <a:schemeClr val="dk1"/>
                </a:solidFill>
              </a:rPr>
              <a:t>, where data-driven decision-making and intelligent automation play a key role in modern manufacturing and industrial systems. The successful integration of cloud-based machine learning services with predictive analytics showcases a scalable and efficient framework that can be extended to larger industrial ecosystems.</a:t>
            </a:r>
            <a:endParaRPr sz="1100">
              <a:solidFill>
                <a:schemeClr val="dk1"/>
              </a:solidFill>
            </a:endParaRPr>
          </a:p>
          <a:p>
            <a:pPr indent="0" lvl="0" marL="0" rtl="0" algn="l">
              <a:lnSpc>
                <a:spcPct val="115000"/>
              </a:lnSpc>
              <a:spcBef>
                <a:spcPts val="1200"/>
              </a:spcBef>
              <a:spcAft>
                <a:spcPts val="0"/>
              </a:spcAft>
              <a:buSzPts val="1100"/>
              <a:buNone/>
            </a:pPr>
            <a:r>
              <a:rPr lang="en-US" sz="1100">
                <a:solidFill>
                  <a:schemeClr val="dk1"/>
                </a:solidFill>
              </a:rPr>
              <a:t>In conclusion, this project proves that predictive maintenance powered by Machine Learning and IBM Watsonx.ai is an effective solution for minimizing machine failures, improving operational efficiency, and supporting smart manufacturing initiatives. It serves as a strong foundation for developing advanced industrial monitoring systems that contribute to more reliable, sustainable, and intelligent industrial operations in the future.</a:t>
            </a:r>
            <a:endParaRPr sz="1100">
              <a:solidFill>
                <a:schemeClr val="dk1"/>
              </a:solidFill>
            </a:endParaRPr>
          </a:p>
          <a:p>
            <a:pPr indent="0" lvl="0" marL="0" rtl="0" algn="l">
              <a:lnSpc>
                <a:spcPct val="115000"/>
              </a:lnSpc>
              <a:spcBef>
                <a:spcPts val="1200"/>
              </a:spcBef>
              <a:spcAft>
                <a:spcPts val="0"/>
              </a:spcAft>
              <a:buSzPts val="1100"/>
              <a:buNone/>
            </a:pPr>
            <a:r>
              <a:t/>
            </a:r>
            <a:endParaRPr sz="1100">
              <a:solidFill>
                <a:schemeClr val="dk1"/>
              </a:solidFill>
            </a:endParaRPr>
          </a:p>
          <a:p>
            <a:pPr indent="0" lvl="0" marL="0" rtl="0" algn="l">
              <a:lnSpc>
                <a:spcPct val="115000"/>
              </a:lnSpc>
              <a:spcBef>
                <a:spcPts val="1800"/>
              </a:spcBef>
              <a:spcAft>
                <a:spcPts val="400"/>
              </a:spcAft>
              <a:buSzPts val="1100"/>
              <a:buNone/>
            </a:pPr>
            <a:r>
              <a:t/>
            </a:r>
            <a:endParaRPr b="1" sz="17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 -</a:t>
            </a:r>
            <a:endParaRPr b="1" i="0" sz="2400" u="none" cap="none" strike="noStrike">
              <a:solidFill>
                <a:srgbClr val="000000"/>
              </a:solidFill>
              <a:latin typeface="Arial"/>
              <a:ea typeface="Arial"/>
              <a:cs typeface="Arial"/>
              <a:sym typeface="Arial"/>
            </a:endParaRPr>
          </a:p>
        </p:txBody>
      </p:sp>
      <p:sp>
        <p:nvSpPr>
          <p:cNvPr id="180" name="Google Shape;180;p26"/>
          <p:cNvSpPr txBox="1"/>
          <p:nvPr/>
        </p:nvSpPr>
        <p:spPr>
          <a:xfrm>
            <a:off x="777240" y="1207008"/>
            <a:ext cx="11301900" cy="3709500"/>
          </a:xfrm>
          <a:prstGeom prst="rect">
            <a:avLst/>
          </a:prstGeom>
          <a:noFill/>
          <a:ln>
            <a:noFill/>
          </a:ln>
        </p:spPr>
        <p:txBody>
          <a:bodyPr anchorCtr="0" anchor="t" bIns="45700" lIns="91425" spcFirstLastPara="1" rIns="91425" wrap="square" tIns="45700">
            <a:spAutoFit/>
          </a:bodyPr>
          <a:lstStyle/>
          <a:p>
            <a:pPr indent="-298450" lvl="0" marL="457200" rtl="0" algn="l">
              <a:lnSpc>
                <a:spcPct val="115000"/>
              </a:lnSpc>
              <a:spcBef>
                <a:spcPts val="1200"/>
              </a:spcBef>
              <a:spcAft>
                <a:spcPts val="0"/>
              </a:spcAft>
              <a:buClr>
                <a:schemeClr val="dk1"/>
              </a:buClr>
              <a:buSzPts val="1100"/>
              <a:buChar char="●"/>
            </a:pPr>
            <a:r>
              <a:rPr lang="en-US" sz="1800"/>
              <a:t>Uses Artificial Intelligence for predictive maintenance instead of traditional scheduled maintenance.</a:t>
            </a:r>
            <a:endParaRPr sz="1800"/>
          </a:p>
          <a:p>
            <a:pPr indent="-298450" lvl="0" marL="457200" rtl="0" algn="l">
              <a:lnSpc>
                <a:spcPct val="115000"/>
              </a:lnSpc>
              <a:spcBef>
                <a:spcPts val="0"/>
              </a:spcBef>
              <a:spcAft>
                <a:spcPts val="0"/>
              </a:spcAft>
              <a:buClr>
                <a:schemeClr val="dk1"/>
              </a:buClr>
              <a:buSzPts val="1100"/>
              <a:buChar char="●"/>
            </a:pPr>
            <a:r>
              <a:rPr lang="en-US" sz="1800"/>
              <a:t>Predicts machine failures before actual breakdowns occur.</a:t>
            </a:r>
            <a:endParaRPr sz="1800"/>
          </a:p>
          <a:p>
            <a:pPr indent="-298450" lvl="0" marL="457200" rtl="0" algn="l">
              <a:lnSpc>
                <a:spcPct val="115000"/>
              </a:lnSpc>
              <a:spcBef>
                <a:spcPts val="0"/>
              </a:spcBef>
              <a:spcAft>
                <a:spcPts val="0"/>
              </a:spcAft>
              <a:buClr>
                <a:schemeClr val="dk1"/>
              </a:buClr>
              <a:buSzPts val="1100"/>
              <a:buChar char="●"/>
            </a:pPr>
            <a:r>
              <a:rPr lang="en-US" sz="1800"/>
              <a:t>Classifies multiple failure types rather than only detecting failure/non-failure.</a:t>
            </a:r>
            <a:endParaRPr sz="1800"/>
          </a:p>
          <a:p>
            <a:pPr indent="-298450" lvl="0" marL="457200" rtl="0" algn="l">
              <a:lnSpc>
                <a:spcPct val="115000"/>
              </a:lnSpc>
              <a:spcBef>
                <a:spcPts val="0"/>
              </a:spcBef>
              <a:spcAft>
                <a:spcPts val="0"/>
              </a:spcAft>
              <a:buClr>
                <a:schemeClr val="dk1"/>
              </a:buClr>
              <a:buSzPts val="1100"/>
              <a:buChar char="●"/>
            </a:pPr>
            <a:r>
              <a:rPr lang="en-US" sz="1800"/>
              <a:t>Utilizes IBM Watsonx.ai AutoAI for automated model generation and optimization.</a:t>
            </a:r>
            <a:endParaRPr sz="1800"/>
          </a:p>
          <a:p>
            <a:pPr indent="-298450" lvl="0" marL="457200" rtl="0" algn="l">
              <a:lnSpc>
                <a:spcPct val="115000"/>
              </a:lnSpc>
              <a:spcBef>
                <a:spcPts val="0"/>
              </a:spcBef>
              <a:spcAft>
                <a:spcPts val="0"/>
              </a:spcAft>
              <a:buClr>
                <a:schemeClr val="dk1"/>
              </a:buClr>
              <a:buSzPts val="1100"/>
              <a:buChar char="●"/>
            </a:pPr>
            <a:r>
              <a:rPr lang="en-US" sz="1800"/>
              <a:t>Provides real-time prediction capability through cloud deployment.</a:t>
            </a:r>
            <a:endParaRPr sz="1800"/>
          </a:p>
          <a:p>
            <a:pPr indent="-298450" lvl="0" marL="457200" rtl="0" algn="l">
              <a:lnSpc>
                <a:spcPct val="115000"/>
              </a:lnSpc>
              <a:spcBef>
                <a:spcPts val="0"/>
              </a:spcBef>
              <a:spcAft>
                <a:spcPts val="0"/>
              </a:spcAft>
              <a:buClr>
                <a:schemeClr val="dk1"/>
              </a:buClr>
              <a:buSzPts val="1100"/>
              <a:buChar char="●"/>
            </a:pPr>
            <a:r>
              <a:rPr lang="en-US" sz="1800"/>
              <a:t>Reduces maintenance costs and production losses.</a:t>
            </a:r>
            <a:endParaRPr sz="1800"/>
          </a:p>
          <a:p>
            <a:pPr indent="-298450" lvl="0" marL="457200" rtl="0" algn="l">
              <a:lnSpc>
                <a:spcPct val="115000"/>
              </a:lnSpc>
              <a:spcBef>
                <a:spcPts val="0"/>
              </a:spcBef>
              <a:spcAft>
                <a:spcPts val="0"/>
              </a:spcAft>
              <a:buClr>
                <a:schemeClr val="dk1"/>
              </a:buClr>
              <a:buSzPts val="1100"/>
              <a:buChar char="●"/>
            </a:pPr>
            <a:r>
              <a:rPr lang="en-US" sz="1800"/>
              <a:t>Supports Industry 4.0 and Smart Manufacturing concepts.</a:t>
            </a:r>
            <a:endParaRPr sz="1800"/>
          </a:p>
          <a:p>
            <a:pPr indent="-298450" lvl="0" marL="457200" rtl="0" algn="l">
              <a:lnSpc>
                <a:spcPct val="115000"/>
              </a:lnSpc>
              <a:spcBef>
                <a:spcPts val="0"/>
              </a:spcBef>
              <a:spcAft>
                <a:spcPts val="0"/>
              </a:spcAft>
              <a:buClr>
                <a:schemeClr val="dk1"/>
              </a:buClr>
              <a:buSzPts val="1100"/>
              <a:buChar char="●"/>
            </a:pPr>
            <a:r>
              <a:rPr lang="en-US" sz="1800"/>
              <a:t>Scalable solution for large fleets of industrial machinery.</a:t>
            </a:r>
            <a:endParaRPr sz="1800"/>
          </a:p>
          <a:p>
            <a:pPr indent="-298450" lvl="0" marL="457200" rtl="0" algn="l">
              <a:lnSpc>
                <a:spcPct val="115000"/>
              </a:lnSpc>
              <a:spcBef>
                <a:spcPts val="0"/>
              </a:spcBef>
              <a:spcAft>
                <a:spcPts val="0"/>
              </a:spcAft>
              <a:buClr>
                <a:schemeClr val="dk1"/>
              </a:buClr>
              <a:buSzPts val="1100"/>
              <a:buChar char="●"/>
            </a:pPr>
            <a:r>
              <a:rPr lang="en-US" sz="1800"/>
              <a:t>Cloud-based deployment enables remote monitoring and access.</a:t>
            </a:r>
            <a:endParaRPr sz="1800"/>
          </a:p>
          <a:p>
            <a:pPr indent="-298450" lvl="0" marL="457200" rtl="0" algn="l">
              <a:lnSpc>
                <a:spcPct val="115000"/>
              </a:lnSpc>
              <a:spcBef>
                <a:spcPts val="0"/>
              </a:spcBef>
              <a:spcAft>
                <a:spcPts val="0"/>
              </a:spcAft>
              <a:buClr>
                <a:schemeClr val="dk1"/>
              </a:buClr>
              <a:buSzPts val="1100"/>
              <a:buChar char="●"/>
            </a:pPr>
            <a:r>
              <a:rPr lang="en-US" sz="1800"/>
              <a:t>Data-driven decision-making improves maintenance planning.</a:t>
            </a:r>
            <a:endParaRPr sz="1800"/>
          </a:p>
          <a:p>
            <a:pPr indent="0" lvl="0" marL="0" marR="0" rtl="0" algn="l">
              <a:lnSpc>
                <a:spcPct val="100000"/>
              </a:lnSpc>
              <a:spcBef>
                <a:spcPts val="1200"/>
              </a:spcBef>
              <a:spcAft>
                <a:spcPts val="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 : -</a:t>
            </a:r>
            <a:endParaRPr b="1" i="0" sz="2400" u="none" cap="none" strike="noStrike">
              <a:solidFill>
                <a:srgbClr val="000000"/>
              </a:solidFill>
              <a:latin typeface="Arial"/>
              <a:ea typeface="Arial"/>
              <a:cs typeface="Arial"/>
              <a:sym typeface="Arial"/>
            </a:endParaRPr>
          </a:p>
        </p:txBody>
      </p:sp>
      <p:sp>
        <p:nvSpPr>
          <p:cNvPr id="186" name="Google Shape;186;p27"/>
          <p:cNvSpPr/>
          <p:nvPr/>
        </p:nvSpPr>
        <p:spPr>
          <a:xfrm>
            <a:off x="1218724" y="1124762"/>
            <a:ext cx="9214500" cy="4277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u="sng"/>
              <a:t>LINK:</a:t>
            </a:r>
            <a:r>
              <a:rPr lang="en-US" sz="2400"/>
              <a:t>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1800" u="sng">
                <a:solidFill>
                  <a:schemeClr val="hlink"/>
                </a:solidFill>
                <a:hlinkClick r:id="rId3"/>
              </a:rPr>
              <a:t>https://github.com/Ipsita20262005/Industrial-Machinery-Predictive-Maintenance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This includes : </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US" sz="1800"/>
              <a:t>Project_Submission_for_EdunetFoundation_IBMUniversityEngagement_ppt</a:t>
            </a:r>
            <a:endParaRPr sz="1800"/>
          </a:p>
          <a:p>
            <a:pPr indent="-342900" lvl="0" marL="457200" rtl="0" algn="l">
              <a:spcBef>
                <a:spcPts val="0"/>
              </a:spcBef>
              <a:spcAft>
                <a:spcPts val="0"/>
              </a:spcAft>
              <a:buSzPts val="1800"/>
              <a:buChar char="●"/>
            </a:pPr>
            <a:r>
              <a:rPr lang="en-US" sz="1800"/>
              <a:t>Machine Predictive </a:t>
            </a:r>
            <a:r>
              <a:rPr lang="en-US" sz="1800"/>
              <a:t>Maintenance</a:t>
            </a:r>
            <a:r>
              <a:rPr lang="en-US" sz="1800"/>
              <a:t> Code.txt</a:t>
            </a:r>
            <a:endParaRPr sz="1800"/>
          </a:p>
          <a:p>
            <a:pPr indent="-342900" lvl="0" marL="457200" rtl="0" algn="l">
              <a:spcBef>
                <a:spcPts val="0"/>
              </a:spcBef>
              <a:spcAft>
                <a:spcPts val="0"/>
              </a:spcAft>
              <a:buSzPts val="1800"/>
              <a:buChar char="●"/>
            </a:pPr>
            <a:r>
              <a:rPr lang="en-US" sz="1800"/>
              <a:t>Architecture Workflow.png</a:t>
            </a:r>
            <a:endParaRPr sz="1800"/>
          </a:p>
          <a:p>
            <a:pPr indent="-342900" lvl="0" marL="457200" rtl="0" algn="l">
              <a:spcBef>
                <a:spcPts val="0"/>
              </a:spcBef>
              <a:spcAft>
                <a:spcPts val="0"/>
              </a:spcAft>
              <a:buSzPts val="1800"/>
              <a:buChar char="●"/>
            </a:pPr>
            <a:r>
              <a:rPr lang="en-US" sz="1800"/>
              <a:t>Predictive_maintenance.csv (dataset)</a:t>
            </a:r>
            <a:endParaRPr sz="1800"/>
          </a:p>
          <a:p>
            <a:pPr indent="-342900" lvl="0" marL="457200" rtl="0" algn="l">
              <a:spcBef>
                <a:spcPts val="0"/>
              </a:spcBef>
              <a:spcAft>
                <a:spcPts val="0"/>
              </a:spcAft>
              <a:buSzPts val="1800"/>
              <a:buChar char="●"/>
            </a:pPr>
            <a:r>
              <a:rPr lang="en-US" sz="1800"/>
              <a:t>README.md</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187" name="Google Shape;187;p27"/>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8" name="Google Shape;188;p27"/>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9" name="Google Shape;189;p27"/>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95" name="Google Shape;195;p28"/>
          <p:cNvSpPr/>
          <p:nvPr/>
        </p:nvSpPr>
        <p:spPr>
          <a:xfrm>
            <a:off x="685800" y="1221725"/>
            <a:ext cx="9747300" cy="5300700"/>
          </a:xfrm>
          <a:prstGeom prst="rect">
            <a:avLst/>
          </a:prstGeom>
          <a:noFill/>
          <a:ln>
            <a:noFill/>
          </a:ln>
        </p:spPr>
        <p:txBody>
          <a:bodyPr anchorCtr="0" anchor="t" bIns="0" lIns="0" spcFirstLastPara="1" rIns="0" wrap="square" tIns="0">
            <a:noAutofit/>
          </a:bodyPr>
          <a:lstStyle/>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Integrate live IoT sensors for real-time monitoring.</a:t>
            </a:r>
            <a:endParaRPr sz="1850">
              <a:solidFill>
                <a:srgbClr val="2B3541"/>
              </a:solidFill>
              <a:latin typeface="Times New Roman"/>
              <a:ea typeface="Times New Roman"/>
              <a:cs typeface="Times New Roman"/>
              <a:sym typeface="Times New Roman"/>
            </a:endParaRPr>
          </a:p>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Develop a web-based dashboard for visualization and alerts.</a:t>
            </a:r>
            <a:endParaRPr sz="1850">
              <a:solidFill>
                <a:srgbClr val="2B3541"/>
              </a:solidFill>
              <a:latin typeface="Times New Roman"/>
              <a:ea typeface="Times New Roman"/>
              <a:cs typeface="Times New Roman"/>
              <a:sym typeface="Times New Roman"/>
            </a:endParaRPr>
          </a:p>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Implement automated maintenance scheduling.</a:t>
            </a:r>
            <a:endParaRPr sz="1850">
              <a:solidFill>
                <a:srgbClr val="2B3541"/>
              </a:solidFill>
              <a:latin typeface="Times New Roman"/>
              <a:ea typeface="Times New Roman"/>
              <a:cs typeface="Times New Roman"/>
              <a:sym typeface="Times New Roman"/>
            </a:endParaRPr>
          </a:p>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Incorporate Deep Learning models for improved prediction accuracy.</a:t>
            </a:r>
            <a:endParaRPr sz="1850">
              <a:solidFill>
                <a:srgbClr val="2B3541"/>
              </a:solidFill>
              <a:latin typeface="Times New Roman"/>
              <a:ea typeface="Times New Roman"/>
              <a:cs typeface="Times New Roman"/>
              <a:sym typeface="Times New Roman"/>
            </a:endParaRPr>
          </a:p>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Enable predictive maintenance across multiple factory locations.</a:t>
            </a:r>
            <a:endParaRPr sz="1850">
              <a:solidFill>
                <a:srgbClr val="2B3541"/>
              </a:solidFill>
              <a:latin typeface="Times New Roman"/>
              <a:ea typeface="Times New Roman"/>
              <a:cs typeface="Times New Roman"/>
              <a:sym typeface="Times New Roman"/>
            </a:endParaRPr>
          </a:p>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Integrate with ERP and Manufacturing Execution Systems (MES).</a:t>
            </a:r>
            <a:endParaRPr sz="1850">
              <a:solidFill>
                <a:srgbClr val="2B3541"/>
              </a:solidFill>
              <a:latin typeface="Times New Roman"/>
              <a:ea typeface="Times New Roman"/>
              <a:cs typeface="Times New Roman"/>
              <a:sym typeface="Times New Roman"/>
            </a:endParaRPr>
          </a:p>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Use Digital Twin technology for machine health simulation.</a:t>
            </a:r>
            <a:endParaRPr sz="1850">
              <a:solidFill>
                <a:srgbClr val="2B3541"/>
              </a:solidFill>
              <a:latin typeface="Times New Roman"/>
              <a:ea typeface="Times New Roman"/>
              <a:cs typeface="Times New Roman"/>
              <a:sym typeface="Times New Roman"/>
            </a:endParaRPr>
          </a:p>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Add anomaly detection for unknown failure patterns.</a:t>
            </a:r>
            <a:endParaRPr sz="1850">
              <a:solidFill>
                <a:srgbClr val="2B3541"/>
              </a:solidFill>
              <a:latin typeface="Times New Roman"/>
              <a:ea typeface="Times New Roman"/>
              <a:cs typeface="Times New Roman"/>
              <a:sym typeface="Times New Roman"/>
            </a:endParaRPr>
          </a:p>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Develop mobile applications for maintenance engineers.</a:t>
            </a:r>
            <a:endParaRPr sz="1850">
              <a:solidFill>
                <a:srgbClr val="2B3541"/>
              </a:solidFill>
              <a:latin typeface="Times New Roman"/>
              <a:ea typeface="Times New Roman"/>
              <a:cs typeface="Times New Roman"/>
              <a:sym typeface="Times New Roman"/>
            </a:endParaRPr>
          </a:p>
          <a:p>
            <a:pPr indent="-346075" lvl="0" marL="457200" rtl="0" algn="l">
              <a:lnSpc>
                <a:spcPct val="162162"/>
              </a:lnSpc>
              <a:spcBef>
                <a:spcPts val="0"/>
              </a:spcBef>
              <a:spcAft>
                <a:spcPts val="0"/>
              </a:spcAft>
              <a:buClr>
                <a:srgbClr val="2B3541"/>
              </a:buClr>
              <a:buSzPts val="1850"/>
              <a:buFont typeface="Times New Roman"/>
              <a:buChar char="●"/>
            </a:pPr>
            <a:r>
              <a:rPr lang="en-US" sz="1850">
                <a:solidFill>
                  <a:srgbClr val="2B3541"/>
                </a:solidFill>
                <a:latin typeface="Times New Roman"/>
                <a:ea typeface="Times New Roman"/>
                <a:cs typeface="Times New Roman"/>
                <a:sym typeface="Times New Roman"/>
              </a:rPr>
              <a:t>Implement predictive maintenance for various industrial sectors such as manufacturing, energy, mining, and automotive industries.</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sz="1850">
              <a:solidFill>
                <a:srgbClr val="2B3541"/>
              </a:solidFill>
              <a:latin typeface="Times New Roman"/>
              <a:ea typeface="Times New Roman"/>
              <a:cs typeface="Times New Roman"/>
              <a:sym typeface="Times New Roman"/>
            </a:endParaRPr>
          </a:p>
        </p:txBody>
      </p:sp>
      <p:sp>
        <p:nvSpPr>
          <p:cNvPr id="196" name="Google Shape;196;p28"/>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7" name="Google Shape;197;p28"/>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8" name="Google Shape;198;p28"/>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9"/>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